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95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2820" y="90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6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73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2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5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6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88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24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7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0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1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C99D0-7DB8-4A99-AB0B-293FC5AECEDE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E306C-96BB-41AD-AA0A-C0D7E96B5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86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jpg"/><Relationship Id="rId10" Type="http://schemas.openxmlformats.org/officeDocument/2006/relationships/image" Target="../media/image7.pn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jp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1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jp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.jpe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4.png"/><Relationship Id="rId5" Type="http://schemas.openxmlformats.org/officeDocument/2006/relationships/image" Target="../media/image11.jpeg"/><Relationship Id="rId10" Type="http://schemas.openxmlformats.org/officeDocument/2006/relationships/image" Target="../media/image8.png"/><Relationship Id="rId4" Type="http://schemas.openxmlformats.org/officeDocument/2006/relationships/image" Target="../media/image10.jpeg"/><Relationship Id="rId9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6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14.jpe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28600" cy="41148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5791200" y="5257800"/>
            <a:ext cx="2197422" cy="1419425"/>
            <a:chOff x="5029200" y="4475202"/>
            <a:chExt cx="3987800" cy="2382798"/>
          </a:xfrm>
        </p:grpSpPr>
        <p:grpSp>
          <p:nvGrpSpPr>
            <p:cNvPr id="7" name="Group 6"/>
            <p:cNvGrpSpPr/>
            <p:nvPr/>
          </p:nvGrpSpPr>
          <p:grpSpPr>
            <a:xfrm>
              <a:off x="6781800" y="4475202"/>
              <a:ext cx="2235200" cy="2382798"/>
              <a:chOff x="6781800" y="4475202"/>
              <a:chExt cx="2235200" cy="2382798"/>
            </a:xfrm>
          </p:grpSpPr>
          <p:pic>
            <p:nvPicPr>
              <p:cNvPr id="1030" name="Picture 6" descr="C:\Users\Power\Desktop\mortar\mediterranean-indoor-pots-and-planters.jp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1800" y="4622800"/>
                <a:ext cx="2235200" cy="2235200"/>
              </a:xfrm>
              <a:prstGeom prst="rect">
                <a:avLst/>
              </a:prstGeom>
              <a:noFill/>
              <a:ln w="3810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7029865" y="4475202"/>
                <a:ext cx="1746328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prstTxWarp prst="textDeflateBottom">
                  <a:avLst>
                    <a:gd name="adj" fmla="val 57859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Amerigo BT" pitchFamily="34" charset="0"/>
                  </a:rPr>
                  <a:t>Natural Herbs</a:t>
                </a:r>
              </a:p>
            </p:txBody>
          </p:sp>
        </p:grpSp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796"/>
            <a:stretch/>
          </p:blipFill>
          <p:spPr>
            <a:xfrm>
              <a:off x="5029200" y="4837746"/>
              <a:ext cx="1756463" cy="2012684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5181600" y="4572000"/>
              <a:ext cx="1676400" cy="553997"/>
            </a:xfrm>
            <a:prstGeom prst="rect">
              <a:avLst/>
            </a:prstGeom>
            <a:noFill/>
          </p:spPr>
          <p:txBody>
            <a:bodyPr wrap="none" rtlCol="0">
              <a:prstTxWarp prst="textDeflateBottom">
                <a:avLst>
                  <a:gd name="adj" fmla="val 53854"/>
                </a:avLst>
              </a:prstTxWarp>
              <a:spAutoFit/>
            </a:bodyPr>
            <a:lstStyle/>
            <a:p>
              <a:r>
                <a:rPr lang="en-US" sz="2000" dirty="0">
                  <a:latin typeface="Amerigo BT" pitchFamily="34" charset="0"/>
                </a:rPr>
                <a:t>PURE HONEY</a:t>
              </a:r>
            </a:p>
          </p:txBody>
        </p:sp>
      </p:grpSp>
      <p:pic>
        <p:nvPicPr>
          <p:cNvPr id="13" name="Picture 3" descr="C:\Documents and Settings\Power\Desktop\Logo\PRM &amp; Company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982" y="139701"/>
            <a:ext cx="889618" cy="850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 rot="16200000">
            <a:off x="7419871" y="5126997"/>
            <a:ext cx="3200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6600"/>
                </a:solidFill>
              </a:rPr>
              <a:t>For the use of regd. Medical practitioner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87069" y="3573417"/>
            <a:ext cx="2942531" cy="1455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Made with 19 Herbs Namely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     Tulsi,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Ardusi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, Pudina Pan,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    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Nilgiri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 Oil,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lavang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 oil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etc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…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Palatable Honey Taste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 Rounded MT Bold" pitchFamily="34" charset="0"/>
              </a:rPr>
              <a:t>Cares &amp; Cares All Age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35" y="228600"/>
            <a:ext cx="1816700" cy="1059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638800" y="1379418"/>
            <a:ext cx="2419742" cy="174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15123F-8B8D-4E5B-892B-88D08EBBD240}"/>
              </a:ext>
            </a:extLst>
          </p:cNvPr>
          <p:cNvSpPr txBox="1"/>
          <p:nvPr/>
        </p:nvSpPr>
        <p:spPr>
          <a:xfrm>
            <a:off x="3469524" y="1880974"/>
            <a:ext cx="753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100 ml</a:t>
            </a:r>
            <a:endParaRPr lang="en-IN" sz="16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63B859-6A8A-E26D-025E-999C8DE72DB9}"/>
              </a:ext>
            </a:extLst>
          </p:cNvPr>
          <p:cNvGrpSpPr/>
          <p:nvPr/>
        </p:nvGrpSpPr>
        <p:grpSpPr>
          <a:xfrm>
            <a:off x="993553" y="2202289"/>
            <a:ext cx="3121247" cy="4105564"/>
            <a:chOff x="8165591" y="2236930"/>
            <a:chExt cx="2581266" cy="3325684"/>
          </a:xfrm>
          <a:effectLst>
            <a:outerShdw blurRad="76200" dir="18900000" sy="23000" kx="-1200000" algn="bl" rotWithShape="0">
              <a:prstClr val="black">
                <a:alpha val="5000"/>
              </a:prstClr>
            </a:outerShdw>
          </a:effectLst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95AE8A6-D7AE-89CC-FFC7-E61D2E65B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65591" y="2349336"/>
              <a:ext cx="1264147" cy="3213278"/>
            </a:xfrm>
            <a:prstGeom prst="rect">
              <a:avLst/>
            </a:prstGeo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50BB118-227A-83F5-00F5-DEDD38169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60735" y="2236930"/>
              <a:ext cx="1486122" cy="3322958"/>
            </a:xfrm>
            <a:prstGeom prst="rect">
              <a:avLst/>
            </a:prstGeo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6" name="fenny syrup _ 1">
            <a:hlinkClick r:id="" action="ppaction://media"/>
            <a:extLst>
              <a:ext uri="{FF2B5EF4-FFF2-40B4-BE49-F238E27FC236}">
                <a16:creationId xmlns:a16="http://schemas.microsoft.com/office/drawing/2014/main" id="{F32778CB-930C-2736-1CEB-F495106D11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1143000" y="12700"/>
            <a:ext cx="552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8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65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FBFE5A-6B02-6EDA-58D4-6C4040A17B45}"/>
              </a:ext>
            </a:extLst>
          </p:cNvPr>
          <p:cNvSpPr txBox="1"/>
          <p:nvPr/>
        </p:nvSpPr>
        <p:spPr>
          <a:xfrm>
            <a:off x="685800" y="1772056"/>
            <a:ext cx="419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0" dirty="0">
                <a:latin typeface="Arial Rounded MT Bold" pitchFamily="34" charset="0"/>
              </a:rPr>
              <a:t>100% Ayurvedic syrup for Sore throat &amp; Dry cough with Honey </a:t>
            </a:r>
            <a:r>
              <a:rPr lang="en-US" b="0" dirty="0" err="1">
                <a:latin typeface="Arial Rounded MT Bold" pitchFamily="34" charset="0"/>
              </a:rPr>
              <a:t>Flavour</a:t>
            </a:r>
            <a:r>
              <a:rPr lang="en-US" b="0" dirty="0">
                <a:latin typeface="Arial Rounded MT Bold" pitchFamily="34" charset="0"/>
              </a:rPr>
              <a:t>.</a:t>
            </a:r>
          </a:p>
          <a:p>
            <a:endParaRPr lang="en-US" b="0" dirty="0">
              <a:latin typeface="Arial Rounded MT Bold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0" dirty="0">
                <a:latin typeface="Arial Rounded MT Bold" pitchFamily="34" charset="0"/>
              </a:rPr>
              <a:t>Made with 19 premium herbs like Tulsi, Pudina, </a:t>
            </a:r>
            <a:r>
              <a:rPr lang="en-US" b="0" dirty="0" err="1">
                <a:latin typeface="Arial Rounded MT Bold" pitchFamily="34" charset="0"/>
              </a:rPr>
              <a:t>Nilgiri</a:t>
            </a:r>
            <a:r>
              <a:rPr lang="en-US" b="0" dirty="0">
                <a:latin typeface="Arial Rounded MT Bold" pitchFamily="34" charset="0"/>
              </a:rPr>
              <a:t>, Honey, Etc.</a:t>
            </a:r>
            <a:endParaRPr lang="en-US" b="1" dirty="0">
              <a:latin typeface="Arial Rounded MT Bold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b="0" dirty="0">
              <a:latin typeface="Arial Rounded MT Bold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0" dirty="0">
                <a:latin typeface="Arial Rounded MT Bold" pitchFamily="34" charset="0"/>
              </a:rPr>
              <a:t>Economy MRP and best channel margin.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ADAF31-D552-57C9-7306-6B2F38813565}"/>
              </a:ext>
            </a:extLst>
          </p:cNvPr>
          <p:cNvSpPr/>
          <p:nvPr/>
        </p:nvSpPr>
        <p:spPr>
          <a:xfrm>
            <a:off x="0" y="0"/>
            <a:ext cx="228600" cy="41148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34D797-CBDF-E4EE-DDC2-26CF0A36E703}"/>
              </a:ext>
            </a:extLst>
          </p:cNvPr>
          <p:cNvSpPr txBox="1"/>
          <p:nvPr/>
        </p:nvSpPr>
        <p:spPr>
          <a:xfrm rot="16200000">
            <a:off x="7412995" y="3298195"/>
            <a:ext cx="3200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6600"/>
                </a:solidFill>
              </a:rPr>
              <a:t>For the use of regd. Medical practitioner only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CEBEF629-35EA-0598-8D4C-70F502ABC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91400" y="117075"/>
            <a:ext cx="1626108" cy="117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CF1133C-BBF3-D45C-B598-C834ABDFF3F0}"/>
              </a:ext>
            </a:extLst>
          </p:cNvPr>
          <p:cNvSpPr txBox="1"/>
          <p:nvPr/>
        </p:nvSpPr>
        <p:spPr>
          <a:xfrm>
            <a:off x="228600" y="1000780"/>
            <a:ext cx="4343400" cy="523220"/>
          </a:xfrm>
          <a:prstGeom prst="rect">
            <a:avLst/>
          </a:prstGeom>
          <a:solidFill>
            <a:srgbClr val="00B05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Rounded MT Bold" pitchFamily="34" charset="0"/>
              </a:rPr>
              <a:t>      Why Fenny Syrup ?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6CC0EE4-B6C3-DB35-005E-19132E7FF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655" y="5326915"/>
            <a:ext cx="2198206" cy="1281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DE372DC-5A49-7787-6723-0F1BAF9F6091}"/>
              </a:ext>
            </a:extLst>
          </p:cNvPr>
          <p:cNvGrpSpPr/>
          <p:nvPr/>
        </p:nvGrpSpPr>
        <p:grpSpPr>
          <a:xfrm>
            <a:off x="228600" y="5317786"/>
            <a:ext cx="2197422" cy="1419425"/>
            <a:chOff x="5029200" y="4475202"/>
            <a:chExt cx="3987799" cy="238279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E20F3C2-599B-E0E8-AD67-654D8D16FA64}"/>
                </a:ext>
              </a:extLst>
            </p:cNvPr>
            <p:cNvGrpSpPr/>
            <p:nvPr/>
          </p:nvGrpSpPr>
          <p:grpSpPr>
            <a:xfrm>
              <a:off x="6781800" y="4475202"/>
              <a:ext cx="2235199" cy="2382798"/>
              <a:chOff x="6781800" y="4475202"/>
              <a:chExt cx="2235199" cy="2382798"/>
            </a:xfrm>
          </p:grpSpPr>
          <p:pic>
            <p:nvPicPr>
              <p:cNvPr id="8" name="Picture 6" descr="C:\Users\Power\Desktop\mortar\mediterranean-indoor-pots-and-planters.jpg">
                <a:extLst>
                  <a:ext uri="{FF2B5EF4-FFF2-40B4-BE49-F238E27FC236}">
                    <a16:creationId xmlns:a16="http://schemas.microsoft.com/office/drawing/2014/main" id="{87276BD4-A68D-E3E0-612C-B6136CF701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1800" y="4622801"/>
                <a:ext cx="2235199" cy="2235199"/>
              </a:xfrm>
              <a:prstGeom prst="rect">
                <a:avLst/>
              </a:prstGeom>
              <a:noFill/>
              <a:ln w="3810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BD18F6-D0F2-147F-D38A-6121C3A8232D}"/>
                  </a:ext>
                </a:extLst>
              </p:cNvPr>
              <p:cNvSpPr txBox="1"/>
              <p:nvPr/>
            </p:nvSpPr>
            <p:spPr>
              <a:xfrm>
                <a:off x="7029865" y="4475202"/>
                <a:ext cx="1746328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prstTxWarp prst="textDeflateBottom">
                  <a:avLst>
                    <a:gd name="adj" fmla="val 57859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Amerigo BT" pitchFamily="34" charset="0"/>
                  </a:rPr>
                  <a:t>Natural Herbs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7D5C07E-22AB-84B3-2A68-01ACBFB2C6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796"/>
            <a:stretch/>
          </p:blipFill>
          <p:spPr>
            <a:xfrm>
              <a:off x="5029200" y="4837746"/>
              <a:ext cx="1756463" cy="201268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8DE3E1-58B2-59C4-7D6F-8C222F166D26}"/>
                </a:ext>
              </a:extLst>
            </p:cNvPr>
            <p:cNvSpPr txBox="1"/>
            <p:nvPr/>
          </p:nvSpPr>
          <p:spPr>
            <a:xfrm>
              <a:off x="5181600" y="4572000"/>
              <a:ext cx="1676400" cy="553997"/>
            </a:xfrm>
            <a:prstGeom prst="rect">
              <a:avLst/>
            </a:prstGeom>
            <a:noFill/>
          </p:spPr>
          <p:txBody>
            <a:bodyPr wrap="none" rtlCol="0">
              <a:prstTxWarp prst="textDeflateBottom">
                <a:avLst>
                  <a:gd name="adj" fmla="val 53854"/>
                </a:avLst>
              </a:prstTxWarp>
              <a:spAutoFit/>
            </a:bodyPr>
            <a:lstStyle/>
            <a:p>
              <a:r>
                <a:rPr lang="en-US" sz="2000" dirty="0">
                  <a:latin typeface="Amerigo BT" pitchFamily="34" charset="0"/>
                </a:rPr>
                <a:t>PURE HONEY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3136198-F9BE-8834-A3D3-A808BF573091}"/>
              </a:ext>
            </a:extLst>
          </p:cNvPr>
          <p:cNvSpPr txBox="1"/>
          <p:nvPr/>
        </p:nvSpPr>
        <p:spPr>
          <a:xfrm>
            <a:off x="7944172" y="2192266"/>
            <a:ext cx="753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100 ml</a:t>
            </a:r>
            <a:endParaRPr lang="en-IN" sz="16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22723B-8985-8D79-072F-E1EBD9ECAEED}"/>
              </a:ext>
            </a:extLst>
          </p:cNvPr>
          <p:cNvGrpSpPr/>
          <p:nvPr/>
        </p:nvGrpSpPr>
        <p:grpSpPr>
          <a:xfrm>
            <a:off x="5468201" y="2513581"/>
            <a:ext cx="3121247" cy="4105564"/>
            <a:chOff x="8165591" y="2236930"/>
            <a:chExt cx="2581266" cy="3325684"/>
          </a:xfrm>
          <a:effectLst>
            <a:outerShdw blurRad="76200" dir="18900000" sy="23000" kx="-1200000" algn="bl" rotWithShape="0">
              <a:prstClr val="black">
                <a:alpha val="5000"/>
              </a:prstClr>
            </a:outerShdw>
          </a:effectLst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0343460-673A-B8E2-A550-65A77D6BC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65591" y="2349336"/>
              <a:ext cx="1264147" cy="3213278"/>
            </a:xfrm>
            <a:prstGeom prst="rect">
              <a:avLst/>
            </a:prstGeo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64E2C10-7646-62D3-CBB6-2EACE2818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260735" y="2236930"/>
              <a:ext cx="1486122" cy="3322958"/>
            </a:xfrm>
            <a:prstGeom prst="rect">
              <a:avLst/>
            </a:prstGeom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8" name="fenny syrup _ 2">
            <a:hlinkClick r:id="" action="ppaction://media"/>
            <a:extLst>
              <a:ext uri="{FF2B5EF4-FFF2-40B4-BE49-F238E27FC236}">
                <a16:creationId xmlns:a16="http://schemas.microsoft.com/office/drawing/2014/main" id="{513E5CA1-8E2E-DDCF-12CD-99F6B63E1D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009650" y="427111"/>
            <a:ext cx="552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3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643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DF3AB-720A-7F3E-88FF-B79ACEB4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59F2B88-B262-2BF5-D64F-47CDCB5DE9CB}"/>
              </a:ext>
            </a:extLst>
          </p:cNvPr>
          <p:cNvSpPr/>
          <p:nvPr/>
        </p:nvSpPr>
        <p:spPr>
          <a:xfrm>
            <a:off x="0" y="0"/>
            <a:ext cx="228600" cy="41148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B8D6BD-257F-EBEF-5CE6-4FE33DE20A4C}"/>
              </a:ext>
            </a:extLst>
          </p:cNvPr>
          <p:cNvSpPr txBox="1"/>
          <p:nvPr/>
        </p:nvSpPr>
        <p:spPr>
          <a:xfrm rot="16200000">
            <a:off x="7412995" y="3298195"/>
            <a:ext cx="3200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6600"/>
                </a:solidFill>
              </a:rPr>
              <a:t>For the use of regd. Medical practitioner only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CF8CA3DE-C7F4-E9E0-10B7-4388C60B8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91400" y="117075"/>
            <a:ext cx="1626108" cy="117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1B9E98-B000-3690-65EB-8B7F1859DAF7}"/>
              </a:ext>
            </a:extLst>
          </p:cNvPr>
          <p:cNvSpPr txBox="1"/>
          <p:nvPr/>
        </p:nvSpPr>
        <p:spPr>
          <a:xfrm>
            <a:off x="228600" y="695980"/>
            <a:ext cx="3124200" cy="523220"/>
          </a:xfrm>
          <a:prstGeom prst="rect">
            <a:avLst/>
          </a:prstGeom>
          <a:solidFill>
            <a:srgbClr val="00B05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Rounded MT Bold" pitchFamily="34" charset="0"/>
              </a:rPr>
              <a:t>      Contains :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FEA47FE3-3B6F-0B71-D519-653754B26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968263"/>
            <a:ext cx="2198206" cy="1281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08136F-DDF4-EF98-088F-2D5310E202D2}"/>
              </a:ext>
            </a:extLst>
          </p:cNvPr>
          <p:cNvGrpSpPr/>
          <p:nvPr/>
        </p:nvGrpSpPr>
        <p:grpSpPr>
          <a:xfrm>
            <a:off x="6641778" y="5286175"/>
            <a:ext cx="2197422" cy="1419425"/>
            <a:chOff x="5029200" y="4475202"/>
            <a:chExt cx="3987800" cy="238279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80E2D73-370A-CAFD-5260-D71E45169898}"/>
                </a:ext>
              </a:extLst>
            </p:cNvPr>
            <p:cNvGrpSpPr/>
            <p:nvPr/>
          </p:nvGrpSpPr>
          <p:grpSpPr>
            <a:xfrm>
              <a:off x="6781800" y="4475202"/>
              <a:ext cx="2235200" cy="2382798"/>
              <a:chOff x="6781800" y="4475202"/>
              <a:chExt cx="2235200" cy="2382798"/>
            </a:xfrm>
          </p:grpSpPr>
          <p:pic>
            <p:nvPicPr>
              <p:cNvPr id="8" name="Picture 6" descr="C:\Users\Power\Desktop\mortar\mediterranean-indoor-pots-and-planters.jpg">
                <a:extLst>
                  <a:ext uri="{FF2B5EF4-FFF2-40B4-BE49-F238E27FC236}">
                    <a16:creationId xmlns:a16="http://schemas.microsoft.com/office/drawing/2014/main" id="{4651E954-2388-8ED2-BF82-740F516D94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1800" y="4622800"/>
                <a:ext cx="2235200" cy="2235200"/>
              </a:xfrm>
              <a:prstGeom prst="rect">
                <a:avLst/>
              </a:prstGeom>
              <a:noFill/>
              <a:ln w="3810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49AB30-F431-626C-02CB-0055AD1E9CC3}"/>
                  </a:ext>
                </a:extLst>
              </p:cNvPr>
              <p:cNvSpPr txBox="1"/>
              <p:nvPr/>
            </p:nvSpPr>
            <p:spPr>
              <a:xfrm>
                <a:off x="7029865" y="4475202"/>
                <a:ext cx="1746328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prstTxWarp prst="textDeflateBottom">
                  <a:avLst>
                    <a:gd name="adj" fmla="val 57859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Amerigo BT" pitchFamily="34" charset="0"/>
                  </a:rPr>
                  <a:t>Natural Herbs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D0D93E0-86AE-A289-B854-5E0FDDEC6C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796"/>
            <a:stretch/>
          </p:blipFill>
          <p:spPr>
            <a:xfrm>
              <a:off x="5029200" y="4837746"/>
              <a:ext cx="1756463" cy="201268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8D0EB8-43A9-9390-458A-0DFB6267372B}"/>
                </a:ext>
              </a:extLst>
            </p:cNvPr>
            <p:cNvSpPr txBox="1"/>
            <p:nvPr/>
          </p:nvSpPr>
          <p:spPr>
            <a:xfrm>
              <a:off x="5181600" y="4572000"/>
              <a:ext cx="1676400" cy="553997"/>
            </a:xfrm>
            <a:prstGeom prst="rect">
              <a:avLst/>
            </a:prstGeom>
            <a:noFill/>
          </p:spPr>
          <p:txBody>
            <a:bodyPr wrap="none" rtlCol="0">
              <a:prstTxWarp prst="textDeflateBottom">
                <a:avLst>
                  <a:gd name="adj" fmla="val 53854"/>
                </a:avLst>
              </a:prstTxWarp>
              <a:spAutoFit/>
            </a:bodyPr>
            <a:lstStyle/>
            <a:p>
              <a:r>
                <a:rPr lang="en-US" sz="2000" dirty="0">
                  <a:latin typeface="Amerigo BT" pitchFamily="34" charset="0"/>
                </a:rPr>
                <a:t>PURE HONEY</a:t>
              </a:r>
            </a:p>
          </p:txBody>
        </p:sp>
      </p:grpSp>
      <p:pic>
        <p:nvPicPr>
          <p:cNvPr id="10" name="fenny syrup _ 3">
            <a:hlinkClick r:id="" action="ppaction://media"/>
            <a:extLst>
              <a:ext uri="{FF2B5EF4-FFF2-40B4-BE49-F238E27FC236}">
                <a16:creationId xmlns:a16="http://schemas.microsoft.com/office/drawing/2014/main" id="{0FCACDA6-53A6-358E-8C4A-25742C42C1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038225" y="0"/>
            <a:ext cx="552450" cy="552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555875-A922-E6AF-7307-C816DB29940D}"/>
              </a:ext>
            </a:extLst>
          </p:cNvPr>
          <p:cNvSpPr txBox="1"/>
          <p:nvPr/>
        </p:nvSpPr>
        <p:spPr>
          <a:xfrm>
            <a:off x="773740" y="1539419"/>
            <a:ext cx="69224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Each 5 ml. contains extract of :</a:t>
            </a:r>
          </a:p>
          <a:p>
            <a:r>
              <a:rPr lang="en-US" sz="1500" b="1" dirty="0" err="1"/>
              <a:t>Ardushi</a:t>
            </a:r>
            <a:r>
              <a:rPr lang="en-US" sz="1500" b="1" dirty="0"/>
              <a:t> leaves</a:t>
            </a:r>
            <a:r>
              <a:rPr lang="en-US" sz="1500" dirty="0"/>
              <a:t> </a:t>
            </a:r>
            <a:r>
              <a:rPr lang="en-US" sz="1500" i="1" dirty="0"/>
              <a:t>(</a:t>
            </a:r>
            <a:r>
              <a:rPr lang="en-US" sz="1500" i="1" dirty="0" err="1"/>
              <a:t>Adhatoda</a:t>
            </a:r>
            <a:r>
              <a:rPr lang="en-US" sz="1500" i="1" dirty="0"/>
              <a:t> </a:t>
            </a:r>
            <a:r>
              <a:rPr lang="en-US" sz="1500" i="1" dirty="0" err="1"/>
              <a:t>vasica</a:t>
            </a:r>
            <a:r>
              <a:rPr lang="en-US" sz="1500" i="1" dirty="0"/>
              <a:t>)</a:t>
            </a:r>
            <a:r>
              <a:rPr lang="en-US" sz="1500" dirty="0"/>
              <a:t>	 	300 mg. A.B.</a:t>
            </a:r>
          </a:p>
          <a:p>
            <a:r>
              <a:rPr lang="en-US" sz="1500" b="1" dirty="0"/>
              <a:t>Tulsi leaves </a:t>
            </a:r>
            <a:r>
              <a:rPr lang="en-US" sz="1500" i="1" dirty="0"/>
              <a:t>(Ocimum sanctum) </a:t>
            </a:r>
            <a:r>
              <a:rPr lang="en-US" sz="1500" dirty="0"/>
              <a:t>		175 mg. A.B. </a:t>
            </a:r>
          </a:p>
          <a:p>
            <a:r>
              <a:rPr lang="en-US" sz="1500" b="1" dirty="0"/>
              <a:t>Adrak rhizome </a:t>
            </a:r>
            <a:r>
              <a:rPr lang="en-US" sz="1500" i="1" dirty="0"/>
              <a:t>(Zingiber officinalis) </a:t>
            </a:r>
            <a:r>
              <a:rPr lang="en-US" sz="1500" dirty="0"/>
              <a:t>	200 mg. A.B.</a:t>
            </a:r>
          </a:p>
          <a:p>
            <a:r>
              <a:rPr lang="en-US" sz="1500" b="1" dirty="0" err="1"/>
              <a:t>Kantakari</a:t>
            </a:r>
            <a:r>
              <a:rPr lang="en-US" sz="1500" b="1" dirty="0"/>
              <a:t> </a:t>
            </a:r>
            <a:r>
              <a:rPr lang="en-US" sz="1500" b="1" dirty="0" err="1"/>
              <a:t>panchang</a:t>
            </a:r>
            <a:r>
              <a:rPr lang="en-US" sz="1500" b="1" dirty="0"/>
              <a:t> </a:t>
            </a:r>
            <a:r>
              <a:rPr lang="en-US" sz="1500" i="1" dirty="0"/>
              <a:t>(Solanum </a:t>
            </a:r>
            <a:r>
              <a:rPr lang="en-US" sz="1500" i="1" dirty="0" err="1"/>
              <a:t>xanthocarpum</a:t>
            </a:r>
            <a:r>
              <a:rPr lang="en-US" sz="1500" i="1" dirty="0"/>
              <a:t>) 	</a:t>
            </a:r>
            <a:r>
              <a:rPr lang="en-US" sz="1500" dirty="0"/>
              <a:t>50 mg. A.B.</a:t>
            </a:r>
          </a:p>
          <a:p>
            <a:r>
              <a:rPr lang="en-US" sz="1500" b="1" dirty="0"/>
              <a:t>Haldi rhizome </a:t>
            </a:r>
            <a:r>
              <a:rPr lang="en-US" sz="1500" i="1" dirty="0"/>
              <a:t>(Curcuma longa) </a:t>
            </a:r>
            <a:r>
              <a:rPr lang="en-US" sz="1500" dirty="0"/>
              <a:t>		100 mg. A.B.</a:t>
            </a:r>
          </a:p>
          <a:p>
            <a:r>
              <a:rPr lang="en-US" sz="1500" b="1" dirty="0" err="1"/>
              <a:t>Phudina</a:t>
            </a:r>
            <a:r>
              <a:rPr lang="en-US" sz="1500" b="1" dirty="0"/>
              <a:t> ka </a:t>
            </a:r>
            <a:r>
              <a:rPr lang="en-US" sz="1500" b="1" dirty="0" err="1"/>
              <a:t>phool</a:t>
            </a:r>
            <a:r>
              <a:rPr lang="en-US" sz="1500" b="1" dirty="0"/>
              <a:t> Crystal </a:t>
            </a:r>
            <a:r>
              <a:rPr lang="en-US" sz="1500" i="1" dirty="0"/>
              <a:t>(Mentha spicata) 	</a:t>
            </a:r>
            <a:r>
              <a:rPr lang="en-US" sz="1500" dirty="0"/>
              <a:t>30 mg. A.B.</a:t>
            </a:r>
          </a:p>
          <a:p>
            <a:r>
              <a:rPr lang="en-US" sz="1500" b="1" dirty="0"/>
              <a:t>Suddha </a:t>
            </a:r>
            <a:r>
              <a:rPr lang="en-US" sz="1500" b="1" dirty="0" err="1"/>
              <a:t>suhaga</a:t>
            </a:r>
            <a:r>
              <a:rPr lang="en-US" sz="1500" b="1" dirty="0"/>
              <a:t> powder 		</a:t>
            </a:r>
            <a:r>
              <a:rPr lang="en-US" sz="1500" dirty="0"/>
              <a:t>20 mg. A.B.</a:t>
            </a:r>
          </a:p>
          <a:p>
            <a:r>
              <a:rPr lang="en-US" sz="1500" b="1" dirty="0" err="1"/>
              <a:t>Tejbal</a:t>
            </a:r>
            <a:r>
              <a:rPr lang="en-US" sz="1500" b="1" dirty="0"/>
              <a:t> </a:t>
            </a:r>
            <a:r>
              <a:rPr lang="en-US" sz="1500" b="1" dirty="0" err="1"/>
              <a:t>chhal</a:t>
            </a:r>
            <a:r>
              <a:rPr lang="en-US" sz="1500" b="1" dirty="0"/>
              <a:t> </a:t>
            </a:r>
            <a:r>
              <a:rPr lang="en-US" sz="1500" i="1" dirty="0"/>
              <a:t>(</a:t>
            </a:r>
            <a:r>
              <a:rPr lang="en-US" sz="1500" i="1" dirty="0" err="1"/>
              <a:t>Cinamonum</a:t>
            </a:r>
            <a:r>
              <a:rPr lang="en-US" sz="1500" i="1" dirty="0"/>
              <a:t> zeylanicum) </a:t>
            </a:r>
            <a:r>
              <a:rPr lang="en-US" sz="1500" dirty="0"/>
              <a:t>	25 mg. A.B.</a:t>
            </a:r>
          </a:p>
          <a:p>
            <a:r>
              <a:rPr lang="en-US" sz="1500" b="1" dirty="0" err="1"/>
              <a:t>Somlata</a:t>
            </a:r>
            <a:r>
              <a:rPr lang="en-US" sz="1500" b="1" dirty="0"/>
              <a:t> leaves </a:t>
            </a:r>
            <a:r>
              <a:rPr lang="en-US" sz="1500" i="1" dirty="0"/>
              <a:t>(</a:t>
            </a:r>
            <a:r>
              <a:rPr lang="en-US" sz="1500" i="1" dirty="0" err="1"/>
              <a:t>Sarkostol</a:t>
            </a:r>
            <a:r>
              <a:rPr lang="en-US" sz="1500" i="1" dirty="0"/>
              <a:t> </a:t>
            </a:r>
            <a:r>
              <a:rPr lang="en-US" sz="1500" i="1" dirty="0" err="1"/>
              <a:t>brevistigma</a:t>
            </a:r>
            <a:r>
              <a:rPr lang="en-US" sz="1500" i="1" dirty="0"/>
              <a:t>) </a:t>
            </a:r>
            <a:r>
              <a:rPr lang="en-US" sz="1500" dirty="0"/>
              <a:t>	150 mg. A.B.</a:t>
            </a:r>
          </a:p>
          <a:p>
            <a:r>
              <a:rPr lang="en-US" sz="1500" b="1" dirty="0" err="1"/>
              <a:t>Bhibitaki</a:t>
            </a:r>
            <a:r>
              <a:rPr lang="en-US" sz="1500" b="1" dirty="0"/>
              <a:t> fruit </a:t>
            </a:r>
            <a:r>
              <a:rPr lang="en-US" sz="1500" i="1" dirty="0"/>
              <a:t>(Terminalia </a:t>
            </a:r>
            <a:r>
              <a:rPr lang="en-US" sz="1500" i="1" dirty="0" err="1"/>
              <a:t>belerica</a:t>
            </a:r>
            <a:r>
              <a:rPr lang="en-US" sz="1500" i="1" dirty="0"/>
              <a:t>) </a:t>
            </a:r>
            <a:r>
              <a:rPr lang="en-US" sz="1500" dirty="0"/>
              <a:t>	10 mg. A.B.</a:t>
            </a:r>
          </a:p>
          <a:p>
            <a:r>
              <a:rPr lang="en-US" sz="1500" b="1" dirty="0"/>
              <a:t>Madha 				</a:t>
            </a:r>
            <a:r>
              <a:rPr lang="en-US" sz="1500" dirty="0"/>
              <a:t>250 mg. A.B.</a:t>
            </a:r>
          </a:p>
          <a:p>
            <a:r>
              <a:rPr lang="en-US" sz="1500" b="1" dirty="0" err="1"/>
              <a:t>Baheda</a:t>
            </a:r>
            <a:r>
              <a:rPr lang="en-US" sz="1500" b="1" dirty="0"/>
              <a:t> fruit </a:t>
            </a:r>
            <a:r>
              <a:rPr lang="en-US" sz="1500" i="1" dirty="0"/>
              <a:t>(Terminalia </a:t>
            </a:r>
            <a:r>
              <a:rPr lang="en-US" sz="1500" i="1" dirty="0" err="1"/>
              <a:t>belerica</a:t>
            </a:r>
            <a:r>
              <a:rPr lang="en-US" sz="1500" i="1" dirty="0"/>
              <a:t>) 	</a:t>
            </a:r>
            <a:r>
              <a:rPr lang="en-US" sz="1500" dirty="0"/>
              <a:t>	100 mg. A.B.</a:t>
            </a:r>
          </a:p>
          <a:p>
            <a:r>
              <a:rPr lang="en-US" sz="1500" b="1" dirty="0" err="1"/>
              <a:t>Yastimadhu</a:t>
            </a:r>
            <a:r>
              <a:rPr lang="en-US" sz="1500" b="1" dirty="0"/>
              <a:t> root </a:t>
            </a:r>
            <a:r>
              <a:rPr lang="en-US" sz="1500" i="1" dirty="0"/>
              <a:t>(Glycyrrhiza glabra) </a:t>
            </a:r>
            <a:r>
              <a:rPr lang="en-US" sz="1500" dirty="0"/>
              <a:t>	100 mg. A.B.</a:t>
            </a:r>
          </a:p>
          <a:p>
            <a:r>
              <a:rPr lang="en-US" sz="1500" b="1" dirty="0" err="1"/>
              <a:t>Bharangi</a:t>
            </a:r>
            <a:r>
              <a:rPr lang="en-US" sz="1500" b="1" dirty="0"/>
              <a:t> </a:t>
            </a:r>
            <a:r>
              <a:rPr lang="en-US" sz="1500" b="1" dirty="0" err="1"/>
              <a:t>mool</a:t>
            </a:r>
            <a:r>
              <a:rPr lang="en-US" sz="1500" b="1" dirty="0"/>
              <a:t> </a:t>
            </a:r>
            <a:r>
              <a:rPr lang="en-US" sz="1500" i="1" dirty="0"/>
              <a:t>(Clerodendrum </a:t>
            </a:r>
            <a:r>
              <a:rPr lang="en-US" sz="1500" i="1" dirty="0" err="1"/>
              <a:t>serratum</a:t>
            </a:r>
            <a:r>
              <a:rPr lang="en-US" sz="1500" i="1" dirty="0"/>
              <a:t>)	</a:t>
            </a:r>
            <a:r>
              <a:rPr lang="en-US" sz="1500" dirty="0"/>
              <a:t>100 mg. A.B.</a:t>
            </a:r>
          </a:p>
          <a:p>
            <a:r>
              <a:rPr lang="en-US" sz="1500" b="1" dirty="0"/>
              <a:t>Suddha </a:t>
            </a:r>
            <a:r>
              <a:rPr lang="en-US" sz="1500" b="1" dirty="0" err="1"/>
              <a:t>nagugadan</a:t>
            </a:r>
            <a:r>
              <a:rPr lang="en-US" sz="1500" b="1" dirty="0"/>
              <a:t> 			</a:t>
            </a:r>
            <a:r>
              <a:rPr lang="en-US" sz="1500" dirty="0"/>
              <a:t>25 mg. A.B.</a:t>
            </a:r>
          </a:p>
          <a:p>
            <a:r>
              <a:rPr lang="en-US" sz="1500" b="1" dirty="0"/>
              <a:t>Kapoor crystal </a:t>
            </a:r>
            <a:r>
              <a:rPr lang="en-US" sz="1500" i="1" dirty="0"/>
              <a:t>(Cinnamomum </a:t>
            </a:r>
            <a:r>
              <a:rPr lang="en-US" sz="1500" i="1" dirty="0" err="1"/>
              <a:t>camphora</a:t>
            </a:r>
            <a:r>
              <a:rPr lang="en-US" sz="1500" i="1" dirty="0"/>
              <a:t>)	</a:t>
            </a:r>
            <a:r>
              <a:rPr lang="en-US" sz="1500" dirty="0"/>
              <a:t>001 mg. A.B.</a:t>
            </a:r>
          </a:p>
          <a:p>
            <a:r>
              <a:rPr lang="en-US" sz="1500" b="1" dirty="0" err="1"/>
              <a:t>Talispatra</a:t>
            </a:r>
            <a:r>
              <a:rPr lang="en-US" sz="1500" b="1" dirty="0"/>
              <a:t> leaves </a:t>
            </a:r>
            <a:r>
              <a:rPr lang="en-US" sz="1500" i="1" dirty="0"/>
              <a:t>(</a:t>
            </a:r>
            <a:r>
              <a:rPr lang="en-US" sz="1500" i="1" dirty="0" err="1"/>
              <a:t>Taccus</a:t>
            </a:r>
            <a:r>
              <a:rPr lang="en-US" sz="1500" i="1" dirty="0"/>
              <a:t> </a:t>
            </a:r>
            <a:r>
              <a:rPr lang="en-US" sz="1500" i="1" dirty="0" err="1"/>
              <a:t>bacata</a:t>
            </a:r>
            <a:r>
              <a:rPr lang="en-US" sz="1500" i="1" dirty="0"/>
              <a:t>) </a:t>
            </a:r>
            <a:r>
              <a:rPr lang="en-US" sz="1500" dirty="0"/>
              <a:t>		25 mg. A.B.</a:t>
            </a:r>
          </a:p>
          <a:p>
            <a:r>
              <a:rPr lang="en-US" sz="1500" b="1" dirty="0" err="1"/>
              <a:t>Nilgiri</a:t>
            </a:r>
            <a:r>
              <a:rPr lang="en-US" sz="1500" b="1" dirty="0"/>
              <a:t> oil </a:t>
            </a:r>
            <a:r>
              <a:rPr lang="en-US" sz="1500" i="1" dirty="0"/>
              <a:t>(Eucalyptus globulus) 	</a:t>
            </a:r>
            <a:r>
              <a:rPr lang="en-US" sz="1500" dirty="0"/>
              <a:t>	0.05 mg. BHP</a:t>
            </a:r>
          </a:p>
          <a:p>
            <a:r>
              <a:rPr lang="en-US" sz="1500" b="1" dirty="0"/>
              <a:t>Lavang oil </a:t>
            </a:r>
            <a:r>
              <a:rPr lang="en-US" sz="1500" i="1" dirty="0"/>
              <a:t>(</a:t>
            </a:r>
            <a:r>
              <a:rPr lang="en-US" sz="1500" i="1" dirty="0" err="1"/>
              <a:t>Ucaepyltus</a:t>
            </a:r>
            <a:r>
              <a:rPr lang="en-US" sz="1500" i="1" dirty="0"/>
              <a:t> aromatics) </a:t>
            </a:r>
            <a:r>
              <a:rPr lang="en-US" sz="1500" dirty="0"/>
              <a:t>		20 mg. A.B.</a:t>
            </a:r>
          </a:p>
        </p:txBody>
      </p:sp>
    </p:spTree>
    <p:extLst>
      <p:ext uri="{BB962C8B-B14F-4D97-AF65-F5344CB8AC3E}">
        <p14:creationId xmlns:p14="http://schemas.microsoft.com/office/powerpoint/2010/main" val="19244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5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41148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C:\Users\Power\Downloads\1969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10" y="1161228"/>
            <a:ext cx="4213233" cy="2455907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Power\Downloads\sore-throat-causes-types-symptoms-and-treatment-selections-2407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59" y="3829568"/>
            <a:ext cx="4192185" cy="2724436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28600" y="315541"/>
            <a:ext cx="4953000" cy="523220"/>
          </a:xfrm>
          <a:prstGeom prst="rect">
            <a:avLst/>
          </a:prstGeom>
          <a:solidFill>
            <a:srgbClr val="00B05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latin typeface="Arial Rounded MT Bold" pitchFamily="34" charset="0"/>
              </a:rPr>
              <a:t>  Swollen And Sore Throat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7412995" y="3298195"/>
            <a:ext cx="3200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6600"/>
                </a:solidFill>
              </a:rPr>
              <a:t>For the use of regd. Medical practitioner only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9035" y="2968263"/>
            <a:ext cx="2198206" cy="1281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91400" y="117075"/>
            <a:ext cx="1626108" cy="117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64063A5-3093-E908-60C4-9A74BEFFC1E1}"/>
              </a:ext>
            </a:extLst>
          </p:cNvPr>
          <p:cNvGrpSpPr/>
          <p:nvPr/>
        </p:nvGrpSpPr>
        <p:grpSpPr>
          <a:xfrm>
            <a:off x="6641778" y="5286175"/>
            <a:ext cx="2197422" cy="1419425"/>
            <a:chOff x="5029200" y="4475202"/>
            <a:chExt cx="3987800" cy="238279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E2626F1-2704-4F11-F328-70C5440FA140}"/>
                </a:ext>
              </a:extLst>
            </p:cNvPr>
            <p:cNvGrpSpPr/>
            <p:nvPr/>
          </p:nvGrpSpPr>
          <p:grpSpPr>
            <a:xfrm>
              <a:off x="6781800" y="4475202"/>
              <a:ext cx="2235200" cy="2382798"/>
              <a:chOff x="6781800" y="4475202"/>
              <a:chExt cx="2235200" cy="2382798"/>
            </a:xfrm>
          </p:grpSpPr>
          <p:pic>
            <p:nvPicPr>
              <p:cNvPr id="18" name="Picture 6" descr="C:\Users\Power\Desktop\mortar\mediterranean-indoor-pots-and-planters.jpg">
                <a:extLst>
                  <a:ext uri="{FF2B5EF4-FFF2-40B4-BE49-F238E27FC236}">
                    <a16:creationId xmlns:a16="http://schemas.microsoft.com/office/drawing/2014/main" id="{75F9E7A1-F39C-ED48-422C-96A3D450E7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1800" y="4622800"/>
                <a:ext cx="2235200" cy="2235200"/>
              </a:xfrm>
              <a:prstGeom prst="rect">
                <a:avLst/>
              </a:prstGeom>
              <a:noFill/>
              <a:ln w="3810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55FC3E-6285-4D66-BC01-F17473A54BC6}"/>
                  </a:ext>
                </a:extLst>
              </p:cNvPr>
              <p:cNvSpPr txBox="1"/>
              <p:nvPr/>
            </p:nvSpPr>
            <p:spPr>
              <a:xfrm>
                <a:off x="7029865" y="4475202"/>
                <a:ext cx="1746328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prstTxWarp prst="textDeflateBottom">
                  <a:avLst>
                    <a:gd name="adj" fmla="val 57859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Amerigo BT" pitchFamily="34" charset="0"/>
                  </a:rPr>
                  <a:t>Natural Herbs</a:t>
                </a: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002948F-E2AC-BE4A-5ADF-BA46A192AE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796"/>
            <a:stretch/>
          </p:blipFill>
          <p:spPr>
            <a:xfrm>
              <a:off x="5029200" y="4837746"/>
              <a:ext cx="1756463" cy="201268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ABDF1B-2752-1E2C-D63E-A24CE0B4767F}"/>
                </a:ext>
              </a:extLst>
            </p:cNvPr>
            <p:cNvSpPr txBox="1"/>
            <p:nvPr/>
          </p:nvSpPr>
          <p:spPr>
            <a:xfrm>
              <a:off x="5181600" y="4572000"/>
              <a:ext cx="1676400" cy="553997"/>
            </a:xfrm>
            <a:prstGeom prst="rect">
              <a:avLst/>
            </a:prstGeom>
            <a:noFill/>
          </p:spPr>
          <p:txBody>
            <a:bodyPr wrap="none" rtlCol="0">
              <a:prstTxWarp prst="textDeflateBottom">
                <a:avLst>
                  <a:gd name="adj" fmla="val 53854"/>
                </a:avLst>
              </a:prstTxWarp>
              <a:spAutoFit/>
            </a:bodyPr>
            <a:lstStyle/>
            <a:p>
              <a:r>
                <a:rPr lang="en-US" sz="2000" dirty="0">
                  <a:latin typeface="Amerigo BT" pitchFamily="34" charset="0"/>
                </a:rPr>
                <a:t>PURE HONEY</a:t>
              </a:r>
            </a:p>
          </p:txBody>
        </p:sp>
      </p:grpSp>
      <p:pic>
        <p:nvPicPr>
          <p:cNvPr id="4" name="fenny syrup _ 4">
            <a:hlinkClick r:id="" action="ppaction://media"/>
            <a:extLst>
              <a:ext uri="{FF2B5EF4-FFF2-40B4-BE49-F238E27FC236}">
                <a16:creationId xmlns:a16="http://schemas.microsoft.com/office/drawing/2014/main" id="{E865DD4C-8532-0C08-C0A5-A867D9FE3D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843335" y="117075"/>
            <a:ext cx="552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3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262814"/>
            <a:ext cx="1816699" cy="1059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228600" cy="41148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381000"/>
            <a:ext cx="3260444" cy="430887"/>
          </a:xfrm>
          <a:prstGeom prst="rect">
            <a:avLst/>
          </a:prstGeom>
          <a:solidFill>
            <a:srgbClr val="00B05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/>
            <a:r>
              <a:rPr lang="en-US" sz="2200" b="1" dirty="0">
                <a:latin typeface="Arial Rounded MT Bold" pitchFamily="34" charset="0"/>
              </a:rPr>
              <a:t>What Is a Sore Throat?</a:t>
            </a:r>
          </a:p>
        </p:txBody>
      </p:sp>
      <p:pic>
        <p:nvPicPr>
          <p:cNvPr id="2050" name="Picture 2" descr="C:\Users\Power\Downloads\Strep-Throat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767" y="1259580"/>
            <a:ext cx="3026100" cy="1675267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457201" y="4306431"/>
            <a:ext cx="3581399" cy="224676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Arial Rounded MT Bold" pitchFamily="34" charset="0"/>
              </a:rPr>
              <a:t>A Sore Throat Can Affect People Of </a:t>
            </a:r>
            <a:r>
              <a:rPr lang="en-US" sz="1400" dirty="0">
                <a:solidFill>
                  <a:srgbClr val="FF0000"/>
                </a:solidFill>
                <a:latin typeface="Arial Rounded MT Bold" pitchFamily="34" charset="0"/>
              </a:rPr>
              <a:t>All Ages </a:t>
            </a:r>
            <a:r>
              <a:rPr lang="en-US" sz="1400" dirty="0">
                <a:latin typeface="Arial Rounded MT Bold" pitchFamily="34" charset="0"/>
              </a:rPr>
              <a:t>—however, The Risk Of A Sore Throat Is Higher In Some People. This Includes </a:t>
            </a:r>
            <a:r>
              <a:rPr lang="en-US" sz="1400" dirty="0">
                <a:solidFill>
                  <a:srgbClr val="FF0000"/>
                </a:solidFill>
                <a:latin typeface="Arial Rounded MT Bold" pitchFamily="34" charset="0"/>
              </a:rPr>
              <a:t>Children</a:t>
            </a:r>
            <a:r>
              <a:rPr lang="en-US" sz="1400" dirty="0">
                <a:latin typeface="Arial Rounded MT Bold" pitchFamily="34" charset="0"/>
              </a:rPr>
              <a:t>, </a:t>
            </a:r>
            <a:r>
              <a:rPr lang="en-US" sz="1400" dirty="0">
                <a:solidFill>
                  <a:srgbClr val="FF0000"/>
                </a:solidFill>
                <a:latin typeface="Arial Rounded MT Bold" pitchFamily="34" charset="0"/>
              </a:rPr>
              <a:t>Smokers</a:t>
            </a:r>
            <a:r>
              <a:rPr lang="en-US" sz="1400" dirty="0">
                <a:latin typeface="Arial Rounded MT Bold" pitchFamily="34" charset="0"/>
              </a:rPr>
              <a:t>, Allergy Sufferers, And People With A Compromised Immune System. Sharing A Close Space With Others Also Increases The Risk Of Upper Respiratory Infections That Can Present Initially As A Sore Throat.</a:t>
            </a:r>
          </a:p>
        </p:txBody>
      </p:sp>
      <p:pic>
        <p:nvPicPr>
          <p:cNvPr id="21" name="Picture 4" descr="C:\Users\Power\Downloads\sore-throat-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621" y="4591615"/>
            <a:ext cx="2455779" cy="1676400"/>
          </a:xfrm>
          <a:prstGeom prst="rect">
            <a:avLst/>
          </a:prstGeom>
          <a:noFill/>
          <a:ln w="28575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5008" y="1106031"/>
            <a:ext cx="3806369" cy="224676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1400" dirty="0">
                <a:latin typeface="Arial Rounded MT Bold" pitchFamily="34" charset="0"/>
              </a:rPr>
              <a:t>A Sore Throat Refers To </a:t>
            </a:r>
            <a:r>
              <a:rPr lang="en-US" sz="1400" dirty="0">
                <a:solidFill>
                  <a:srgbClr val="FF0000"/>
                </a:solidFill>
                <a:latin typeface="Arial Rounded MT Bold" pitchFamily="34" charset="0"/>
              </a:rPr>
              <a:t>Pain, Itchiness</a:t>
            </a:r>
            <a:r>
              <a:rPr lang="en-US" sz="1400" dirty="0">
                <a:latin typeface="Arial Rounded MT Bold" pitchFamily="34" charset="0"/>
              </a:rPr>
              <a:t>, Or </a:t>
            </a:r>
            <a:r>
              <a:rPr lang="en-US" sz="1400" dirty="0">
                <a:solidFill>
                  <a:srgbClr val="FF0000"/>
                </a:solidFill>
                <a:latin typeface="Arial Rounded MT Bold" pitchFamily="34" charset="0"/>
              </a:rPr>
              <a:t>Irritation</a:t>
            </a:r>
            <a:r>
              <a:rPr lang="en-US" sz="1400" dirty="0">
                <a:latin typeface="Arial Rounded MT Bold" pitchFamily="34" charset="0"/>
              </a:rPr>
              <a:t> Of The Throat. You May Have</a:t>
            </a:r>
          </a:p>
          <a:p>
            <a:pPr fontAlgn="base"/>
            <a:r>
              <a:rPr lang="en-US" sz="1400" dirty="0">
                <a:latin typeface="Arial Rounded MT Bold" pitchFamily="34" charset="0"/>
              </a:rPr>
              <a:t> Difficulty Swallowing Food And Liquids,</a:t>
            </a:r>
          </a:p>
          <a:p>
            <a:pPr fontAlgn="base"/>
            <a:r>
              <a:rPr lang="en-US" sz="1400" dirty="0">
                <a:latin typeface="Arial Rounded MT Bold" pitchFamily="34" charset="0"/>
              </a:rPr>
              <a:t> And The Pain May Get Worse When You</a:t>
            </a:r>
          </a:p>
          <a:p>
            <a:pPr fontAlgn="base"/>
            <a:r>
              <a:rPr lang="en-US" sz="1400" dirty="0">
                <a:latin typeface="Arial Rounded MT Bold" pitchFamily="34" charset="0"/>
              </a:rPr>
              <a:t> Try To Swallow. Throat Pain Is The Primary      Symptom Of A Sore Throat. However, Other Symptoms May Include A Dry Throat, Swollen Glands In The Neck, White Patches On The Tonsils, And Hoarseness.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576935"/>
            <a:ext cx="5924892" cy="430887"/>
          </a:xfrm>
          <a:prstGeom prst="rect">
            <a:avLst/>
          </a:prstGeom>
          <a:solidFill>
            <a:srgbClr val="00B05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fontAlgn="base"/>
            <a:r>
              <a:rPr lang="en-US" sz="2200" b="1" dirty="0">
                <a:latin typeface="Arial Rounded MT Bold" pitchFamily="34" charset="0"/>
              </a:rPr>
              <a:t>Sore Throat Can Affect People Of All Ages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C36433-864D-1777-65E2-A9354CA8D811}"/>
              </a:ext>
            </a:extLst>
          </p:cNvPr>
          <p:cNvSpPr txBox="1"/>
          <p:nvPr/>
        </p:nvSpPr>
        <p:spPr>
          <a:xfrm rot="16200000">
            <a:off x="7412995" y="3298195"/>
            <a:ext cx="3200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6600"/>
                </a:solidFill>
              </a:rPr>
              <a:t>For the use of regd. Medical practitioner only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4904D6-F379-2D36-AAB5-A00AF81D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91400" y="117075"/>
            <a:ext cx="1626108" cy="117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0319939-FBA6-381C-6782-B4644C619C78}"/>
              </a:ext>
            </a:extLst>
          </p:cNvPr>
          <p:cNvGrpSpPr/>
          <p:nvPr/>
        </p:nvGrpSpPr>
        <p:grpSpPr>
          <a:xfrm>
            <a:off x="6781800" y="5286175"/>
            <a:ext cx="2197422" cy="1419425"/>
            <a:chOff x="5029200" y="4475202"/>
            <a:chExt cx="3987800" cy="238279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89A9B7C-ACBA-2C0F-0E21-1FE20A5230F1}"/>
                </a:ext>
              </a:extLst>
            </p:cNvPr>
            <p:cNvGrpSpPr/>
            <p:nvPr/>
          </p:nvGrpSpPr>
          <p:grpSpPr>
            <a:xfrm>
              <a:off x="6781800" y="4475202"/>
              <a:ext cx="2235200" cy="2382798"/>
              <a:chOff x="6781800" y="4475202"/>
              <a:chExt cx="2235200" cy="2382798"/>
            </a:xfrm>
          </p:grpSpPr>
          <p:pic>
            <p:nvPicPr>
              <p:cNvPr id="9" name="Picture 6" descr="C:\Users\Power\Desktop\mortar\mediterranean-indoor-pots-and-planters.jpg">
                <a:extLst>
                  <a:ext uri="{FF2B5EF4-FFF2-40B4-BE49-F238E27FC236}">
                    <a16:creationId xmlns:a16="http://schemas.microsoft.com/office/drawing/2014/main" id="{7C7A8457-5F96-6DE3-1DB5-A87C62F13B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81800" y="4622800"/>
                <a:ext cx="2235200" cy="2235200"/>
              </a:xfrm>
              <a:prstGeom prst="rect">
                <a:avLst/>
              </a:prstGeom>
              <a:noFill/>
              <a:ln w="3810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DC6327-651C-8355-A46A-9C2EFEFBD958}"/>
                  </a:ext>
                </a:extLst>
              </p:cNvPr>
              <p:cNvSpPr txBox="1"/>
              <p:nvPr/>
            </p:nvSpPr>
            <p:spPr>
              <a:xfrm>
                <a:off x="7029865" y="4475202"/>
                <a:ext cx="1746328" cy="55399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prstTxWarp prst="textDeflateBottom">
                  <a:avLst>
                    <a:gd name="adj" fmla="val 57859"/>
                  </a:avLst>
                </a:prstTxWarp>
                <a:spAutoFit/>
              </a:bodyPr>
              <a:lstStyle/>
              <a:p>
                <a:r>
                  <a:rPr lang="en-US" b="1" dirty="0">
                    <a:latin typeface="Amerigo BT" pitchFamily="34" charset="0"/>
                  </a:rPr>
                  <a:t>Natural Herbs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41FFEC-082D-3594-BE81-0076B198BB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796"/>
            <a:stretch/>
          </p:blipFill>
          <p:spPr>
            <a:xfrm>
              <a:off x="5029200" y="4837746"/>
              <a:ext cx="1756463" cy="201268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F168A1-C0C4-DCD8-65EA-9A094EF36A82}"/>
                </a:ext>
              </a:extLst>
            </p:cNvPr>
            <p:cNvSpPr txBox="1"/>
            <p:nvPr/>
          </p:nvSpPr>
          <p:spPr>
            <a:xfrm>
              <a:off x="5181600" y="4572000"/>
              <a:ext cx="1676400" cy="553997"/>
            </a:xfrm>
            <a:prstGeom prst="rect">
              <a:avLst/>
            </a:prstGeom>
            <a:noFill/>
          </p:spPr>
          <p:txBody>
            <a:bodyPr wrap="none" rtlCol="0">
              <a:prstTxWarp prst="textDeflateBottom">
                <a:avLst>
                  <a:gd name="adj" fmla="val 53854"/>
                </a:avLst>
              </a:prstTxWarp>
              <a:spAutoFit/>
            </a:bodyPr>
            <a:lstStyle/>
            <a:p>
              <a:r>
                <a:rPr lang="en-US" sz="2000" dirty="0">
                  <a:latin typeface="Amerigo BT" pitchFamily="34" charset="0"/>
                </a:rPr>
                <a:t>PURE HONEY</a:t>
              </a:r>
            </a:p>
          </p:txBody>
        </p:sp>
      </p:grpSp>
      <p:pic>
        <p:nvPicPr>
          <p:cNvPr id="12" name="fenny syrup _ 5">
            <a:hlinkClick r:id="" action="ppaction://media"/>
            <a:extLst>
              <a:ext uri="{FF2B5EF4-FFF2-40B4-BE49-F238E27FC236}">
                <a16:creationId xmlns:a16="http://schemas.microsoft.com/office/drawing/2014/main" id="{1CC6AE42-8781-D63C-D735-0885ED1ED6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906322" y="259437"/>
            <a:ext cx="552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7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716843"/>
            <a:ext cx="2877899" cy="2141157"/>
          </a:xfrm>
          <a:prstGeom prst="rect">
            <a:avLst/>
          </a:prstGeom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0050"/>
            <a:ext cx="2168026" cy="126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5562600"/>
            <a:ext cx="1120775" cy="1143000"/>
          </a:xfrm>
          <a:prstGeom prst="rect">
            <a:avLst/>
          </a:prstGeom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D4B69684-9E27-4485-AAAD-56867ABF4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05000" y="1752600"/>
            <a:ext cx="4366912" cy="4787718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3194C0-4169-4106-9982-AF3678083110}"/>
              </a:ext>
            </a:extLst>
          </p:cNvPr>
          <p:cNvSpPr txBox="1"/>
          <p:nvPr/>
        </p:nvSpPr>
        <p:spPr>
          <a:xfrm>
            <a:off x="3212733" y="137160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ml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88948-EFD4-3C46-1CEF-710359ABADCF}"/>
              </a:ext>
            </a:extLst>
          </p:cNvPr>
          <p:cNvSpPr txBox="1"/>
          <p:nvPr/>
        </p:nvSpPr>
        <p:spPr>
          <a:xfrm rot="16200000">
            <a:off x="7412995" y="3298195"/>
            <a:ext cx="3200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006600"/>
                </a:solidFill>
              </a:rPr>
              <a:t>For the use of regd. Medical practitioner only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387D93B-1C6A-B9B6-40F2-23F4B9DFA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90235" y="193275"/>
            <a:ext cx="2268220" cy="163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F515AC-D12E-C550-7484-F65E9349F52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5742194"/>
            <a:ext cx="995003" cy="995003"/>
          </a:xfrm>
          <a:prstGeom prst="rect">
            <a:avLst/>
          </a:prstGeom>
        </p:spPr>
      </p:pic>
      <p:pic>
        <p:nvPicPr>
          <p:cNvPr id="3" name="fenny syrup _ 6">
            <a:hlinkClick r:id="" action="ppaction://media"/>
            <a:extLst>
              <a:ext uri="{FF2B5EF4-FFF2-40B4-BE49-F238E27FC236}">
                <a16:creationId xmlns:a16="http://schemas.microsoft.com/office/drawing/2014/main" id="{6817136E-60E6-EDEC-C738-08E98172AF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552450" y="193275"/>
            <a:ext cx="552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1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587</Words>
  <Application>Microsoft Office PowerPoint</Application>
  <PresentationFormat>On-screen Show (4:3)</PresentationFormat>
  <Paragraphs>59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Amerigo BT</vt:lpstr>
      <vt:lpstr>Arial</vt:lpstr>
      <vt:lpstr>Arial Rounded MT Bold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Hardik Rajput</cp:lastModifiedBy>
  <cp:revision>67</cp:revision>
  <dcterms:created xsi:type="dcterms:W3CDTF">2014-11-19T04:20:18Z</dcterms:created>
  <dcterms:modified xsi:type="dcterms:W3CDTF">2025-07-05T07:57:32Z</dcterms:modified>
</cp:coreProperties>
</file>